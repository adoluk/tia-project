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5C669-580D-2EB0-0263-173DFF37E959}" v="250" dt="2026-04-20T08:29:50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TIA-project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>
                <a:solidFill>
                  <a:srgbClr val="F0F0F0"/>
                </a:solidFill>
              </a:rPr>
              <a:t>Plánovač</a:t>
            </a:r>
            <a:r>
              <a:rPr dirty="0">
                <a:solidFill>
                  <a:srgbClr val="F0F0F0"/>
                </a:solidFill>
              </a:rPr>
              <a:t> </a:t>
            </a:r>
            <a:r>
              <a:rPr dirty="0" err="1">
                <a:solidFill>
                  <a:srgbClr val="F0F0F0"/>
                </a:solidFill>
              </a:rPr>
              <a:t>programu</a:t>
            </a:r>
            <a:r>
              <a:rPr lang="en-US" dirty="0">
                <a:solidFill>
                  <a:srgbClr val="F0F0F0"/>
                </a:solidFill>
              </a:rPr>
              <a:t> - Beta</a:t>
            </a:r>
            <a:endParaRPr lang="en-US" dirty="0">
              <a:solidFill>
                <a:srgbClr val="F0F0F0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D2AF5-862B-EF39-AC7D-0711481021E0}"/>
              </a:ext>
            </a:extLst>
          </p:cNvPr>
          <p:cNvSpPr txBox="1"/>
          <p:nvPr/>
        </p:nvSpPr>
        <p:spPr>
          <a:xfrm>
            <a:off x="7338290" y="6321802"/>
            <a:ext cx="22126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Andrej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Lukáčik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>
                <a:solidFill>
                  <a:srgbClr val="F0F0F0"/>
                </a:solidFill>
              </a:rPr>
              <a:t>O projekte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42254"/>
            <a:ext cx="8229600" cy="17045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800" dirty="0" err="1">
                <a:solidFill>
                  <a:srgbClr val="DCDCDC"/>
                </a:solidFill>
              </a:rPr>
              <a:t>Webová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aplikácia</a:t>
            </a:r>
            <a:r>
              <a:rPr sz="1800" dirty="0">
                <a:solidFill>
                  <a:srgbClr val="DCDCDC"/>
                </a:solidFill>
              </a:rPr>
              <a:t> pre </a:t>
            </a:r>
            <a:r>
              <a:rPr sz="1800" dirty="0" err="1">
                <a:solidFill>
                  <a:srgbClr val="DCDCDC"/>
                </a:solidFill>
              </a:rPr>
              <a:t>organizácie</a:t>
            </a:r>
            <a:endParaRPr lang="en-US"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 err="1">
                <a:solidFill>
                  <a:srgbClr val="DCDCDC"/>
                </a:solidFill>
              </a:rPr>
              <a:t>Určená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na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plánovanie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väčších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eventov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 err="1">
                <a:solidFill>
                  <a:srgbClr val="DCDCDC"/>
                </a:solidFill>
              </a:rPr>
              <a:t>Rozdeľuje</a:t>
            </a:r>
            <a:r>
              <a:rPr lang="en-US" sz="1800" dirty="0">
                <a:solidFill>
                  <a:srgbClr val="DCDCDC"/>
                </a:solidFill>
              </a:rPr>
              <a:t> </a:t>
            </a:r>
            <a:r>
              <a:rPr lang="en-US" sz="1800" dirty="0" err="1">
                <a:solidFill>
                  <a:srgbClr val="DCDCDC"/>
                </a:solidFill>
              </a:rPr>
              <a:t>plánovanie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lang="en-US" sz="1800" dirty="0" err="1">
                <a:solidFill>
                  <a:srgbClr val="DCDCDC"/>
                </a:solidFill>
              </a:rPr>
              <a:t>programu</a:t>
            </a:r>
            <a:r>
              <a:rPr sz="1800" dirty="0">
                <a:solidFill>
                  <a:srgbClr val="DCDCDC"/>
                </a:solidFill>
              </a:rPr>
              <a:t> a </a:t>
            </a:r>
            <a:r>
              <a:rPr sz="1800" dirty="0" err="1">
                <a:solidFill>
                  <a:srgbClr val="DCDCDC"/>
                </a:solidFill>
              </a:rPr>
              <a:t>úlohy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medzi</a:t>
            </a:r>
            <a:r>
              <a:rPr lang="en-US" sz="1800" dirty="0">
                <a:solidFill>
                  <a:srgbClr val="DCDCDC"/>
                </a:solidFill>
              </a:rPr>
              <a:t> </a:t>
            </a:r>
            <a:r>
              <a:rPr lang="en-US" sz="1800" dirty="0" err="1">
                <a:solidFill>
                  <a:srgbClr val="DCDCDC"/>
                </a:solidFill>
              </a:rPr>
              <a:t>členov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 err="1">
                <a:solidFill>
                  <a:srgbClr val="DCDCDC"/>
                </a:solidFill>
              </a:rPr>
              <a:t>Zlepšuje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prehľadnosť</a:t>
            </a:r>
            <a:r>
              <a:rPr sz="1800" dirty="0">
                <a:solidFill>
                  <a:srgbClr val="DCDCDC"/>
                </a:solidFill>
              </a:rPr>
              <a:t> a </a:t>
            </a:r>
            <a:r>
              <a:rPr sz="1800" dirty="0" err="1">
                <a:solidFill>
                  <a:srgbClr val="DCDCDC"/>
                </a:solidFill>
              </a:rPr>
              <a:t>koordináciu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</p:txBody>
      </p:sp>
      <p:pic>
        <p:nvPicPr>
          <p:cNvPr id="4" name="Picture 3" descr="How to Establish a Great Company Culture in a Hybrid Work Environment ...">
            <a:extLst>
              <a:ext uri="{FF2B5EF4-FFF2-40B4-BE49-F238E27FC236}">
                <a16:creationId xmlns:a16="http://schemas.microsoft.com/office/drawing/2014/main" id="{5F08A80D-9E80-6F74-5E6D-639B937B6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049" y="1627745"/>
            <a:ext cx="4277497" cy="24080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0F0F0"/>
                </a:solidFill>
              </a:rPr>
              <a:t>Príklad použitia – letný tábor FMFI 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67714" y="1828800"/>
            <a:ext cx="1920240" cy="1188720"/>
          </a:xfrm>
          <a:prstGeom prst="roundRect">
            <a:avLst/>
          </a:prstGeom>
          <a:solidFill>
            <a:srgbClr val="2D2D2D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600" dirty="0">
                <a:solidFill>
                  <a:srgbClr val="E6E6E6"/>
                </a:solidFill>
              </a:rPr>
              <a:t>FMFI UK </a:t>
            </a:r>
            <a:r>
              <a:rPr sz="1600" dirty="0" err="1">
                <a:solidFill>
                  <a:srgbClr val="E6E6E6"/>
                </a:solidFill>
              </a:rPr>
              <a:t>chce</a:t>
            </a:r>
            <a:r>
              <a:rPr lang="en-US" sz="1600" dirty="0">
                <a:solidFill>
                  <a:srgbClr val="E6E6E6"/>
                </a:solidFill>
              </a:rPr>
              <a:t> </a:t>
            </a:r>
            <a:r>
              <a:rPr lang="en-US" sz="1600" dirty="0" err="1">
                <a:solidFill>
                  <a:srgbClr val="E6E6E6"/>
                </a:solidFill>
              </a:rPr>
              <a:t>zorganizovať</a:t>
            </a:r>
            <a:endParaRPr lang="en-US" sz="1600" dirty="0" err="1">
              <a:solidFill>
                <a:srgbClr val="FFFFFF"/>
              </a:solidFill>
            </a:endParaRPr>
          </a:p>
          <a:p>
            <a:pPr algn="ctr"/>
            <a:r>
              <a:rPr lang="en-US" sz="1600" dirty="0" err="1">
                <a:solidFill>
                  <a:srgbClr val="FFFFFF"/>
                </a:solidFill>
              </a:rPr>
              <a:t>letný</a:t>
            </a:r>
            <a:r>
              <a:rPr sz="1600" dirty="0"/>
              <a:t> </a:t>
            </a:r>
            <a:r>
              <a:rPr sz="1600" dirty="0" err="1"/>
              <a:t>tábor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32834" y="1828800"/>
            <a:ext cx="1920240" cy="1188720"/>
          </a:xfrm>
          <a:prstGeom prst="roundRect">
            <a:avLst/>
          </a:prstGeom>
          <a:solidFill>
            <a:srgbClr val="2D2D2D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600" dirty="0" err="1">
                <a:solidFill>
                  <a:srgbClr val="E6E6E6"/>
                </a:solidFill>
              </a:rPr>
              <a:t>Veľa</a:t>
            </a:r>
            <a:r>
              <a:rPr sz="1600" dirty="0">
                <a:solidFill>
                  <a:srgbClr val="E6E6E6"/>
                </a:solidFill>
              </a:rPr>
              <a:t> </a:t>
            </a:r>
            <a:r>
              <a:rPr lang="en-US" sz="1600" dirty="0" err="1">
                <a:solidFill>
                  <a:srgbClr val="E6E6E6"/>
                </a:solidFill>
              </a:rPr>
              <a:t>študentov</a:t>
            </a:r>
            <a:endParaRPr lang="en-US" sz="1600" dirty="0" err="1">
              <a:solidFill>
                <a:srgbClr val="FFFFFF"/>
              </a:solidFill>
            </a:endParaRP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(</a:t>
            </a:r>
            <a:r>
              <a:rPr lang="en-US" sz="1600" dirty="0" err="1">
                <a:solidFill>
                  <a:srgbClr val="FFFFFF"/>
                </a:solidFill>
              </a:rPr>
              <a:t>dobrovoľníkov</a:t>
            </a:r>
            <a:r>
              <a:rPr lang="en-US" sz="1600" dirty="0">
                <a:solidFill>
                  <a:srgbClr val="FFFFFF"/>
                </a:solidFill>
              </a:rPr>
              <a:t>)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78738" y="3229232"/>
            <a:ext cx="1920240" cy="1188720"/>
          </a:xfrm>
          <a:prstGeom prst="roundRect">
            <a:avLst/>
          </a:prstGeom>
          <a:solidFill>
            <a:srgbClr val="2D2D2D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600" dirty="0" err="1">
                <a:solidFill>
                  <a:srgbClr val="E6E6E6"/>
                </a:solidFill>
              </a:rPr>
              <a:t>Použitie</a:t>
            </a:r>
            <a:r>
              <a:rPr sz="1600" dirty="0">
                <a:solidFill>
                  <a:srgbClr val="E6E6E6"/>
                </a:solidFill>
              </a:rPr>
              <a:t> </a:t>
            </a:r>
            <a:r>
              <a:rPr lang="en-US" sz="1600" dirty="0" err="1">
                <a:solidFill>
                  <a:srgbClr val="E6E6E6"/>
                </a:solidFill>
              </a:rPr>
              <a:t>webovej</a:t>
            </a:r>
            <a:endParaRPr lang="en-US" sz="1600" dirty="0" err="1">
              <a:solidFill>
                <a:srgbClr val="FFFFFF"/>
              </a:solidFill>
            </a:endParaRPr>
          </a:p>
          <a:p>
            <a:pPr algn="ctr"/>
            <a:r>
              <a:rPr lang="en-US" sz="1600" dirty="0" err="1">
                <a:solidFill>
                  <a:srgbClr val="FFFFFF"/>
                </a:solidFill>
              </a:rPr>
              <a:t>aplikácie</a:t>
            </a:r>
            <a:endParaRPr lang="en-US" sz="1600" dirty="0" err="1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37776" y="4650259"/>
            <a:ext cx="1920240" cy="1188720"/>
          </a:xfrm>
          <a:prstGeom prst="roundRect">
            <a:avLst/>
          </a:prstGeom>
          <a:solidFill>
            <a:srgbClr val="2D2D2D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600" dirty="0" err="1">
                <a:solidFill>
                  <a:srgbClr val="E6E6E6"/>
                </a:solidFill>
              </a:rPr>
              <a:t>Rozdelenie</a:t>
            </a:r>
            <a:r>
              <a:rPr lang="en-US" sz="1600" dirty="0">
                <a:solidFill>
                  <a:srgbClr val="E6E6E6"/>
                </a:solidFill>
              </a:rPr>
              <a:t> </a:t>
            </a:r>
            <a:r>
              <a:rPr lang="en-US" sz="1600" dirty="0" err="1">
                <a:solidFill>
                  <a:srgbClr val="E6E6E6"/>
                </a:solidFill>
              </a:rPr>
              <a:t>plánovania</a:t>
            </a:r>
            <a:r>
              <a:rPr lang="en-US" sz="1600" dirty="0">
                <a:solidFill>
                  <a:srgbClr val="E6E6E6"/>
                </a:solidFill>
              </a:rPr>
              <a:t> </a:t>
            </a:r>
            <a:r>
              <a:rPr lang="en-US" sz="1600" dirty="0" err="1">
                <a:solidFill>
                  <a:srgbClr val="E6E6E6"/>
                </a:solidFill>
              </a:rPr>
              <a:t>programu</a:t>
            </a:r>
            <a:r>
              <a:rPr lang="en-US" sz="1600" dirty="0">
                <a:solidFill>
                  <a:srgbClr val="E6E6E6"/>
                </a:solidFill>
              </a:rPr>
              <a:t> </a:t>
            </a:r>
            <a:r>
              <a:rPr sz="1600" dirty="0"/>
              <a:t>do </a:t>
            </a:r>
            <a:r>
              <a:rPr sz="1600" dirty="0" err="1"/>
              <a:t>menších</a:t>
            </a:r>
            <a:r>
              <a:rPr sz="1600" dirty="0"/>
              <a:t> </a:t>
            </a:r>
            <a:r>
              <a:rPr sz="1600" dirty="0" err="1"/>
              <a:t>tímov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67301" y="4650259"/>
            <a:ext cx="1920240" cy="1188720"/>
          </a:xfrm>
          <a:prstGeom prst="roundRect">
            <a:avLst/>
          </a:prstGeom>
          <a:solidFill>
            <a:srgbClr val="2D2D2D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600" dirty="0" err="1">
                <a:solidFill>
                  <a:srgbClr val="E6E6E6"/>
                </a:solidFill>
              </a:rPr>
              <a:t>Jednoduchá</a:t>
            </a:r>
            <a:r>
              <a:rPr sz="1600" dirty="0">
                <a:solidFill>
                  <a:srgbClr val="E6E6E6"/>
                </a:solidFill>
              </a:rPr>
              <a:t> </a:t>
            </a:r>
            <a:r>
              <a:rPr lang="en-US" sz="1600" dirty="0">
                <a:solidFill>
                  <a:srgbClr val="E6E6E6"/>
                </a:solidFill>
              </a:rPr>
              <a:t>a </a:t>
            </a:r>
            <a:r>
              <a:rPr lang="en-US" sz="1600" dirty="0" err="1">
                <a:solidFill>
                  <a:srgbClr val="FFFFFF"/>
                </a:solidFill>
              </a:rPr>
              <a:t>efektívna</a:t>
            </a:r>
            <a:r>
              <a:rPr sz="1600" dirty="0"/>
              <a:t> </a:t>
            </a:r>
            <a:r>
              <a:rPr sz="1600" dirty="0" err="1"/>
              <a:t>organizácia</a:t>
            </a:r>
            <a:endParaRPr lang="en-US" sz="1600" dirty="0">
              <a:ea typeface="Calibri"/>
              <a:cs typeface="Calibri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37744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6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Johns Hopkins University Summer academic camp (Baltimore, USA) - apply ...">
            <a:extLst>
              <a:ext uri="{FF2B5EF4-FFF2-40B4-BE49-F238E27FC236}">
                <a16:creationId xmlns:a16="http://schemas.microsoft.com/office/drawing/2014/main" id="{DFB103F1-4140-AF0C-ADD0-7777D0616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184" y="2864709"/>
            <a:ext cx="1661984" cy="1128584"/>
          </a:xfrm>
          <a:prstGeom prst="rect">
            <a:avLst/>
          </a:prstGeom>
        </p:spPr>
      </p:pic>
      <p:pic>
        <p:nvPicPr>
          <p:cNvPr id="14" name="Picture 13" descr="Volunteer Leader Responsibilities, Skills, and Roles">
            <a:extLst>
              <a:ext uri="{FF2B5EF4-FFF2-40B4-BE49-F238E27FC236}">
                <a16:creationId xmlns:a16="http://schemas.microsoft.com/office/drawing/2014/main" id="{79A776D9-23BD-EC46-2DAC-E7880A6BF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941" y="2864708"/>
            <a:ext cx="1569309" cy="110799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487AC6-2E7A-E568-E448-75F152BBAF10}"/>
              </a:ext>
            </a:extLst>
          </p:cNvPr>
          <p:cNvCxnSpPr/>
          <p:nvPr/>
        </p:nvCxnSpPr>
        <p:spPr>
          <a:xfrm>
            <a:off x="3095368" y="2467232"/>
            <a:ext cx="934993" cy="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C78004-7EEB-8735-A495-9FFC151205A9}"/>
              </a:ext>
            </a:extLst>
          </p:cNvPr>
          <p:cNvCxnSpPr/>
          <p:nvPr/>
        </p:nvCxnSpPr>
        <p:spPr>
          <a:xfrm>
            <a:off x="5977323" y="2465944"/>
            <a:ext cx="924696" cy="71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04DF1D-55C3-4AFB-7754-4793D8A837DA}"/>
              </a:ext>
            </a:extLst>
          </p:cNvPr>
          <p:cNvCxnSpPr>
            <a:cxnSpLocks/>
          </p:cNvCxnSpPr>
          <p:nvPr/>
        </p:nvCxnSpPr>
        <p:spPr>
          <a:xfrm flipH="1">
            <a:off x="5934074" y="4443025"/>
            <a:ext cx="1062679" cy="770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5A1DE4-0350-05F8-3099-F4B2DF83926E}"/>
              </a:ext>
            </a:extLst>
          </p:cNvPr>
          <p:cNvCxnSpPr>
            <a:cxnSpLocks/>
          </p:cNvCxnSpPr>
          <p:nvPr/>
        </p:nvCxnSpPr>
        <p:spPr>
          <a:xfrm flipH="1" flipV="1">
            <a:off x="3040535" y="5305939"/>
            <a:ext cx="1031787" cy="32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Premium Vector | Happy Emoji Emoticon Winking and Showing Thumb Up Like ...">
            <a:extLst>
              <a:ext uri="{FF2B5EF4-FFF2-40B4-BE49-F238E27FC236}">
                <a16:creationId xmlns:a16="http://schemas.microsoft.com/office/drawing/2014/main" id="{46405A88-516E-BB24-5BE3-AFC72F289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508" y="5630867"/>
            <a:ext cx="1373659" cy="992050"/>
          </a:xfrm>
          <a:prstGeom prst="rect">
            <a:avLst/>
          </a:prstGeom>
        </p:spPr>
      </p:pic>
      <p:pic>
        <p:nvPicPr>
          <p:cNvPr id="21" name="Picture 20" descr="27 Best Software Development Tools Reviewed For 2026">
            <a:extLst>
              <a:ext uri="{FF2B5EF4-FFF2-40B4-BE49-F238E27FC236}">
                <a16:creationId xmlns:a16="http://schemas.microsoft.com/office/drawing/2014/main" id="{CBE51E94-447F-696E-D203-EFA221546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561" y="4114404"/>
            <a:ext cx="1105931" cy="1152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>
                <a:solidFill>
                  <a:srgbClr val="F0F0F0"/>
                </a:solidFill>
              </a:rPr>
              <a:t>Architektúra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rgbClr val="DCDCDC"/>
                </a:solidFill>
              </a:rPr>
              <a:t>SPA 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architektúra</a:t>
            </a:r>
            <a:endParaRPr lang="en-US"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>
                <a:solidFill>
                  <a:srgbClr val="DCDCDC"/>
                </a:solidFill>
              </a:rPr>
              <a:t>Frontend a backend </a:t>
            </a:r>
            <a:r>
              <a:rPr sz="1800" dirty="0" err="1">
                <a:solidFill>
                  <a:srgbClr val="DCDCDC"/>
                </a:solidFill>
              </a:rPr>
              <a:t>oddelené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 err="1">
                <a:solidFill>
                  <a:srgbClr val="DCDCDC"/>
                </a:solidFill>
              </a:rPr>
              <a:t>Komunikácia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cez</a:t>
            </a:r>
            <a:r>
              <a:rPr sz="1800" dirty="0">
                <a:solidFill>
                  <a:srgbClr val="DCDCDC"/>
                </a:solidFill>
              </a:rPr>
              <a:t> REST API</a:t>
            </a:r>
            <a:endParaRPr sz="1800" dirty="0">
              <a:solidFill>
                <a:srgbClr val="DCDCDC"/>
              </a:solidFill>
              <a:ea typeface="Calibri"/>
              <a:cs typeface="Calibri"/>
            </a:endParaRPr>
          </a:p>
        </p:txBody>
      </p:sp>
      <p:pic>
        <p:nvPicPr>
          <p:cNvPr id="4" name="Picture 3" descr="A diagram of a server&#10;&#10;Obsah vygenerovaný pomocou AI môže byť nesprávny.">
            <a:extLst>
              <a:ext uri="{FF2B5EF4-FFF2-40B4-BE49-F238E27FC236}">
                <a16:creationId xmlns:a16="http://schemas.microsoft.com/office/drawing/2014/main" id="{DC6D4D8C-3BC4-DDD3-BA70-7FF63EED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703" y="1158345"/>
            <a:ext cx="4376352" cy="17610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F53973-DE1B-4465-71D9-B682D9245E48}"/>
              </a:ext>
            </a:extLst>
          </p:cNvPr>
          <p:cNvSpPr txBox="1">
            <a:spLocks/>
          </p:cNvSpPr>
          <p:nvPr/>
        </p:nvSpPr>
        <p:spPr>
          <a:xfrm>
            <a:off x="455141" y="27233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F0F0F0"/>
                </a:solidFill>
              </a:rPr>
              <a:t>Použité technológie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401CE5-14A3-A8DC-4157-142B4B56EEBD}"/>
              </a:ext>
            </a:extLst>
          </p:cNvPr>
          <p:cNvSpPr txBox="1">
            <a:spLocks/>
          </p:cNvSpPr>
          <p:nvPr/>
        </p:nvSpPr>
        <p:spPr>
          <a:xfrm>
            <a:off x="446903" y="3865605"/>
            <a:ext cx="8229600" cy="15397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DCDCDC"/>
                </a:solidFill>
              </a:rPr>
              <a:t>  </a:t>
            </a:r>
            <a:endParaRPr lang="sk-SK">
              <a:solidFill>
                <a:srgbClr val="000000"/>
              </a:solidFill>
            </a:endParaRPr>
          </a:p>
          <a:p>
            <a:pPr lvl="1"/>
            <a:r>
              <a:rPr lang="en-US" sz="1800">
                <a:solidFill>
                  <a:srgbClr val="DCDCDC"/>
                </a:solidFill>
              </a:rPr>
              <a:t>Backend: Node.js 20</a:t>
            </a:r>
            <a:endParaRPr lang="sk-SK"/>
          </a:p>
          <a:p>
            <a:pPr lvl="1"/>
            <a:r>
              <a:rPr lang="en-US" sz="1800" dirty="0" err="1">
                <a:solidFill>
                  <a:srgbClr val="DCDCDC"/>
                </a:solidFill>
              </a:rPr>
              <a:t>Databáza</a:t>
            </a:r>
            <a:r>
              <a:rPr lang="en-US" sz="1800" dirty="0">
                <a:solidFill>
                  <a:srgbClr val="DCDCDC"/>
                </a:solidFill>
              </a:rPr>
              <a:t>: PostgreSQL 18</a:t>
            </a:r>
            <a:endParaRPr lang="en-US" sz="1800" dirty="0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lang="en-US" sz="1800">
                <a:solidFill>
                  <a:srgbClr val="DCDCDC"/>
                </a:solidFill>
              </a:rPr>
              <a:t>Hosting: render.com</a:t>
            </a:r>
          </a:p>
          <a:p>
            <a:pPr lvl="1"/>
            <a:r>
              <a:rPr lang="en-US" sz="1800">
                <a:solidFill>
                  <a:srgbClr val="DCDCDC"/>
                </a:solidFill>
                <a:ea typeface="Calibri"/>
                <a:cs typeface="Calibri"/>
              </a:rPr>
              <a:t>Frontend: React 18, JavaScript, HTML5, CSS3</a:t>
            </a:r>
            <a:endParaRPr lang="en-US" sz="1800" dirty="0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endParaRPr lang="en-US" sz="1800" dirty="0">
              <a:solidFill>
                <a:srgbClr val="DCDCD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>
                <a:solidFill>
                  <a:srgbClr val="F0F0F0"/>
                </a:solidFill>
              </a:rPr>
              <a:t>Stav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800" dirty="0">
                <a:solidFill>
                  <a:srgbClr val="DCDCDC"/>
                </a:solidFill>
              </a:rPr>
              <a:t>Beta </a:t>
            </a:r>
            <a:r>
              <a:rPr sz="1800" dirty="0" err="1">
                <a:solidFill>
                  <a:srgbClr val="DCDCDC"/>
                </a:solidFill>
              </a:rPr>
              <a:t>verzia</a:t>
            </a:r>
            <a:endParaRPr lang="en-US"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lang="en-US" sz="1800" dirty="0" err="1">
                <a:solidFill>
                  <a:srgbClr val="DCDCDC"/>
                </a:solidFill>
              </a:rPr>
              <a:t>Jednoduchá</a:t>
            </a:r>
            <a:r>
              <a:rPr lang="en-US" sz="1800" dirty="0">
                <a:solidFill>
                  <a:srgbClr val="DCDCDC"/>
                </a:solidFill>
              </a:rPr>
              <a:t> </a:t>
            </a:r>
            <a:r>
              <a:rPr lang="en-US" sz="1800" dirty="0" err="1">
                <a:solidFill>
                  <a:srgbClr val="DCDCDC"/>
                </a:solidFill>
              </a:rPr>
              <a:t>funkcionalita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lang="en-US" sz="1800" dirty="0">
                <a:solidFill>
                  <a:srgbClr val="DCDCDC"/>
                </a:solidFill>
              </a:rPr>
              <a:t>end-to-end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Autentifikácia</a:t>
            </a:r>
            <a:r>
              <a:rPr lang="en-US" sz="1800" dirty="0">
                <a:solidFill>
                  <a:srgbClr val="DCDCDC"/>
                </a:solidFill>
                <a:ea typeface="Calibri"/>
                <a:cs typeface="Calibri"/>
              </a:rPr>
              <a:t> / </a:t>
            </a:r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Autorizácia</a:t>
            </a:r>
          </a:p>
          <a:p>
            <a:pPr lvl="1"/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Deploynutý</a:t>
            </a:r>
            <a:r>
              <a:rPr lang="en-US" sz="1800" dirty="0">
                <a:solidFill>
                  <a:srgbClr val="DCDCDC"/>
                </a:solidFill>
                <a:ea typeface="Calibri"/>
                <a:cs typeface="Calibri"/>
              </a:rPr>
              <a:t> </a:t>
            </a:r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na</a:t>
            </a:r>
            <a:r>
              <a:rPr lang="en-US" sz="1800" dirty="0">
                <a:solidFill>
                  <a:srgbClr val="DCDCDC"/>
                </a:solidFill>
                <a:ea typeface="Calibri"/>
                <a:cs typeface="Calibri"/>
              </a:rPr>
              <a:t> </a:t>
            </a:r>
            <a:r>
              <a:rPr lang="en-US" sz="1800" dirty="0">
                <a:solidFill>
                  <a:srgbClr val="DCDCDC"/>
                </a:solidFill>
                <a:ea typeface="+mn-lt"/>
                <a:cs typeface="+mn-lt"/>
              </a:rPr>
              <a:t>https://tia-project-5lqg.onrender.com</a:t>
            </a:r>
            <a:endParaRPr lang="en-US" sz="1800" dirty="0">
              <a:solidFill>
                <a:srgbClr val="DCDCD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>
                <a:solidFill>
                  <a:srgbClr val="F0F0F0"/>
                </a:solidFill>
              </a:rPr>
              <a:t>Zhodnotenie práce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800" dirty="0">
                <a:solidFill>
                  <a:srgbClr val="DCDCDC"/>
                </a:solidFill>
              </a:rPr>
              <a:t>S </a:t>
            </a:r>
            <a:r>
              <a:rPr sz="1800" dirty="0" err="1">
                <a:solidFill>
                  <a:srgbClr val="DCDCDC"/>
                </a:solidFill>
              </a:rPr>
              <a:t>výsledkom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som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spokojný</a:t>
            </a:r>
            <a:endParaRPr lang="en-US"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>
                <a:solidFill>
                  <a:srgbClr val="DCDCDC"/>
                </a:solidFill>
              </a:rPr>
              <a:t>Projekt </a:t>
            </a:r>
            <a:r>
              <a:rPr sz="1800" dirty="0" err="1">
                <a:solidFill>
                  <a:srgbClr val="DCDCDC"/>
                </a:solidFill>
              </a:rPr>
              <a:t>bol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časovo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náročnejší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sz="1800" dirty="0" err="1">
                <a:solidFill>
                  <a:srgbClr val="DCDCDC"/>
                </a:solidFill>
              </a:rPr>
              <a:t>Zabral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viac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času</a:t>
            </a:r>
            <a:r>
              <a:rPr sz="1800" dirty="0">
                <a:solidFill>
                  <a:srgbClr val="DCDCDC"/>
                </a:solidFill>
              </a:rPr>
              <a:t>, </a:t>
            </a:r>
            <a:r>
              <a:rPr sz="1800" dirty="0" err="1">
                <a:solidFill>
                  <a:srgbClr val="DCDCDC"/>
                </a:solidFill>
              </a:rPr>
              <a:t>než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som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očakával</a:t>
            </a:r>
            <a:endParaRPr sz="1800" dirty="0" err="1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lang="en-US" sz="1800" dirty="0" err="1">
                <a:solidFill>
                  <a:srgbClr val="DCDCDC"/>
                </a:solidFill>
              </a:rPr>
              <a:t>Neskoré</a:t>
            </a:r>
            <a:r>
              <a:rPr lang="en-US" sz="1800" dirty="0">
                <a:solidFill>
                  <a:srgbClr val="DCDCDC"/>
                </a:solidFill>
              </a:rPr>
              <a:t> </a:t>
            </a:r>
            <a:r>
              <a:rPr lang="en-US" sz="1800" dirty="0" err="1">
                <a:solidFill>
                  <a:srgbClr val="DCDCDC"/>
                </a:solidFill>
              </a:rPr>
              <a:t>odovzdanie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niektorých</a:t>
            </a:r>
            <a:r>
              <a:rPr sz="1800" dirty="0">
                <a:solidFill>
                  <a:srgbClr val="DCDCDC"/>
                </a:solidFill>
              </a:rPr>
              <a:t> </a:t>
            </a:r>
            <a:r>
              <a:rPr sz="1800" dirty="0" err="1">
                <a:solidFill>
                  <a:srgbClr val="DCDCDC"/>
                </a:solidFill>
              </a:rPr>
              <a:t>reportov</a:t>
            </a:r>
            <a:endParaRPr sz="1800" dirty="0">
              <a:solidFill>
                <a:srgbClr val="DCDCDC"/>
              </a:solidFill>
              <a:ea typeface="Calibri"/>
              <a:cs typeface="Calibri"/>
            </a:endParaRPr>
          </a:p>
          <a:p>
            <a:pPr lvl="1"/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Zameškávanie</a:t>
            </a:r>
            <a:r>
              <a:rPr lang="en-US" sz="1800" dirty="0">
                <a:solidFill>
                  <a:srgbClr val="DCDCDC"/>
                </a:solidFill>
                <a:ea typeface="Calibri"/>
                <a:cs typeface="Calibri"/>
              </a:rPr>
              <a:t> z </a:t>
            </a:r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týždňa</a:t>
            </a:r>
            <a:r>
              <a:rPr lang="en-US" sz="1800" dirty="0">
                <a:solidFill>
                  <a:srgbClr val="DCDCDC"/>
                </a:solidFill>
                <a:ea typeface="Calibri"/>
                <a:cs typeface="Calibri"/>
              </a:rPr>
              <a:t> </a:t>
            </a:r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na</a:t>
            </a:r>
            <a:r>
              <a:rPr lang="en-US" sz="1800" dirty="0">
                <a:solidFill>
                  <a:srgbClr val="DCDCDC"/>
                </a:solidFill>
                <a:ea typeface="Calibri"/>
                <a:cs typeface="Calibri"/>
              </a:rPr>
              <a:t> </a:t>
            </a:r>
            <a:r>
              <a:rPr lang="en-US" sz="1800" dirty="0" err="1">
                <a:solidFill>
                  <a:srgbClr val="DCDCDC"/>
                </a:solidFill>
                <a:ea typeface="Calibri"/>
                <a:cs typeface="Calibri"/>
              </a:rPr>
              <a:t>týždeň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Prezentácia na obrazovke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7" baseType="lpstr">
      <vt:lpstr>Office Theme</vt:lpstr>
      <vt:lpstr>TIA-project</vt:lpstr>
      <vt:lpstr>O projekte</vt:lpstr>
      <vt:lpstr>Prezentácia programu PowerPoint</vt:lpstr>
      <vt:lpstr>Architektúra</vt:lpstr>
      <vt:lpstr>Stav projektu</vt:lpstr>
      <vt:lpstr>Zhodnotenie práce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107</cp:revision>
  <dcterms:created xsi:type="dcterms:W3CDTF">2013-01-27T09:14:16Z</dcterms:created>
  <dcterms:modified xsi:type="dcterms:W3CDTF">2026-04-21T16:31:13Z</dcterms:modified>
  <cp:category/>
</cp:coreProperties>
</file>